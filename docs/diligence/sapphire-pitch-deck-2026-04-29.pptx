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Sapphire OS is a production-graded autonomy control plane: risk-gated intelligence, trading research, and operations, auditable before action.</a:t>
            </a:r>
          </a:p>
          <a:p/>
          <a:p>
            <a:r>
              <a:t>Audience for this render: Palantir Foundry corp-dev — see Slide 8 for audience-specific framing.</a:t>
            </a:r>
          </a:p>
          <a:p/>
          <a:p>
            <a:r>
              <a:t>Source: HEAD 9074c408 @ docs/diligence/00-executive-summary.md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pillars: what, when, why-defensible. Each maps to a section in the diligence packet (00 executive summary; 02 product surfaces; 03 security posture).</a:t>
            </a:r>
          </a:p>
          <a:p/>
          <a:p>
            <a:r>
              <a:t>Test count is from scripts/ops/test_inventory.py (5,304 collected on 2026-04-28). Live $5 cap is from docs/products/live-trading-ramp-memo.md.</a:t>
            </a:r>
          </a:p>
          <a:p/>
          <a:p>
            <a:r>
              <a:t>Source: docs/diligence/00-executive-summary.md @ SHA 9074c408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rendered from matplotlib — palette mirrors the brand (midnight navy, sapphire accent). The seven signal sources on the left are real, shipping surfaces (Tranche 2 + Tranche 4). The middle column is the Tranche 3 correlator, narrative synthesis, risk kernel, and confirmation firewall — all production code with tests. The right column is the governed-output set.</a:t>
            </a:r>
          </a:p>
          <a:p/>
          <a:p>
            <a:r>
              <a:t>The architecture diagram in docs/diligence/01-architecture.md is the Mermaid source of truth; this slide is a visual rendering of the same decomposition.</a:t>
            </a:r>
          </a:p>
          <a:p/>
          <a:p>
            <a:r>
              <a:t>Source: docs/diligence/01-architecture.md @ SHA 9074c408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Fourteen versioned product surfaces. Status colors:</a:t>
            </a:r>
          </a:p>
          <a:p>
            <a:r>
              <a:t>  green = live (read-only or paper) and shipping</a:t>
            </a:r>
          </a:p>
          <a:p>
            <a:r>
              <a:t>  amber = dry-run default / mock fixture / telemetry-first</a:t>
            </a:r>
          </a:p>
          <a:p/>
          <a:p>
            <a:r>
              <a:t>Every row corresponds to a doc under docs/products/&lt;surface&gt;-&lt;version&gt;.md with tests under tests/unit/. None are vaporware. Each is independently purchasable — Risk Kernel and Provenance in particular are designed as carve-out libraries.</a:t>
            </a:r>
          </a:p>
          <a:p/>
          <a:p>
            <a:r>
              <a:t>Source: docs/products/*.md @ SHA 9074c408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kill-switch layers, each tested under tests/unit/ (test_risk_kernel_*, test_confirmation_firewall, test_kill_switch, test_security_kill_switch, test_routine_pause, test_heartbeat).</a:t>
            </a:r>
          </a:p>
          <a:p/>
          <a:p>
            <a:r>
              <a:t>Note: docs/security/kill-switch-invariants.md enumerates four primary layers plus heartbeat as observability — this slide flattens them to five for visual symmetry.</a:t>
            </a:r>
          </a:p>
          <a:p/>
          <a:p>
            <a:r>
              <a:t>Source: docs/security/kill-switch-invariants.md @ SHA 9074c408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metrics grounded:</a:t>
            </a:r>
          </a:p>
          <a:p>
            <a:r>
              <a:t>  • 5,304 tests: from scripts/ops/test_inventory.py output on 2026-04-28 (4,928 unit + 376 plugin)</a:t>
            </a:r>
          </a:p>
          <a:p>
            <a:r>
              <a:t>  • 63 plugin tools: 36 top-level + 25 internal + 2 deprecated, per CLAUDE.md and ls plugins/claw-sapphire/tools/</a:t>
            </a:r>
          </a:p>
          <a:p>
            <a:r>
              <a:t>  • 32 dashboard pages: per CLAUDE.md and ls services/dashboard/templates/pages/ (38 files; 32 unique product pages)</a:t>
            </a:r>
          </a:p>
          <a:p>
            <a:r>
              <a:t>  • 24 LaunchAgents: ls infra/launchagents/ (CLAUDE.md notes 20 in audit snapshot — current count is 24 after recent additions)</a:t>
            </a:r>
          </a:p>
          <a:p>
            <a:r>
              <a:t>  • 7 quant strategies: lib/analytics/ — RegimeAwareRSI, FundingRate-Contrarian, CorrelationBreakout, MultiTFMomentum, SapphireComposite + base + params</a:t>
            </a:r>
          </a:p>
          <a:p>
            <a:r>
              <a:t>  • 13 Foundry types: 8 from 0.1.0 + 5 added in 0.2.0</a:t>
            </a:r>
          </a:p>
          <a:p>
            <a:r>
              <a:t>  • $5 live cap: docs/products/live-trading-ramp-memo.md (capped, manual-confirm-only path; not yet a recurring autonomous flow)</a:t>
            </a:r>
          </a:p>
          <a:p/>
          <a:p>
            <a:r>
              <a:t>Source: CLAUDE.md + scripts/ops/test_inventory.py @ SHA 9074c408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Adapted from docs/competitive/landscape-2026-04-28.md (40k-word primary-source memo). Color: green = yes, amber = partial, red = no.</a:t>
            </a:r>
          </a:p>
          <a:p/>
          <a:p>
            <a:r>
              <a:t>Two key honest concessions:</a:t>
            </a:r>
          </a:p>
          <a:p>
            <a:r>
              <a:t>  • Sapphire does not compete on real-time institutional market data (Bloomberg moat).</a:t>
            </a:r>
          </a:p>
          <a:p>
            <a:r>
              <a:t>  • Sapphire does not compete on regulated execution (Robinhood / broker rails).</a:t>
            </a:r>
          </a:p>
          <a:p/>
          <a:p>
            <a:r>
              <a:t>Where Sapphire genuinely differentiates: governed, owner-operated autonomy with provenance envelopes + dry-run defaults + no-spend CI.</a:t>
            </a:r>
          </a:p>
          <a:p/>
          <a:p>
            <a:r>
              <a:t>Source: docs/competitive/landscape-2026-04-28.md @ SHA 9074c408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audience-specific page. Default rendering targets Palantir Foundry corp-dev.</a:t>
            </a:r>
          </a:p>
          <a:p/>
          <a:p>
            <a:r>
              <a:t>For Robinhood Cortex: swap the headline to 'Why Robinhood' and emphasize: (1) broker-agnostic risk-explanation that respects Cortex's no-trade boundary; (2) crypto-specific intelligence (Hyperliquid, on-chain, counterparty); (3) live-trading ramp discipline ($5 → $50 → $500) that mirrors Cortex's careful informational-vs-execution separation.</a:t>
            </a:r>
          </a:p>
          <a:p/>
          <a:p>
            <a:r>
              <a:t>For specialty acquirer: emphasize compactness — 5,304 tests, 1 operator, an integrated control plane that demonstrates the safe-autonomy pattern at carve-out scale.</a:t>
            </a:r>
          </a:p>
          <a:p/>
          <a:p>
            <a:r>
              <a:t>Source: docs/foundry-ontology-schema.md + docs/products/foundry-ontology-0.2.0.md + project_palantir_pitch memory @ SHA 9074c408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Live-trading posture: manual_confirmed_crypto_only.</a:t>
            </a:r>
          </a:p>
          <a:p/>
          <a:p>
            <a:r>
              <a:t>Key honest caveat: the operator memory references a $5 first BTC live-order intent on 2026-04-28 04:06 UTC, but that timestamp is operator-side state, not a repo-resident artifact this deck can verify. The deck therefore frames the $5 rung as 'designed and gated' rather than asserting an executed fill — preserving the no-fabrication rule.</a:t>
            </a:r>
          </a:p>
          <a:p/>
          <a:p>
            <a:r>
              <a:t>Promotion gates: 14 trading days · Sortino &gt; 1.5 · no firewall bypass · no unexplained slippage · 0-FAIL readiness sweep.</a:t>
            </a:r>
          </a:p>
          <a:p/>
          <a:p>
            <a:r>
              <a:t>Source: docs/products/live-trading-ramp-memo.md @ SHA 9074c408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intentionally brief — operator edits afterward.</a:t>
            </a:r>
          </a:p>
          <a:p/>
          <a:p>
            <a:r>
              <a:t>Honest framing: this is a 1-operator project. The team-and-process diligence section (docs/diligence/09-team-and-process.md) covers the strength (taste, speed) and the risk (key-person concentration).</a:t>
            </a:r>
          </a:p>
          <a:p/>
          <a:p>
            <a:r>
              <a:t>Source: docs/diligence/09-team-and-process.md + CLAUDE.md @ SHA 9074c408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structures from the diligence packet's executive summary and the project_palantir_pitch.md memory note. Option A is recommended as a first step because it preserves both buyer and seller optionality.</a:t>
            </a:r>
          </a:p>
          <a:p/>
          <a:p>
            <a:r>
              <a:t>Option B mirrors the acqui-hire-with-IP-licensing fallback in the Palantir pitch.</a:t>
            </a:r>
          </a:p>
          <a:p/>
          <a:p>
            <a:r>
              <a:t>Option C is the full acquisition path — most likely outcome if a POC under Option A succeeds.</a:t>
            </a:r>
          </a:p>
          <a:p/>
          <a:p>
            <a:r>
              <a:t>Source: docs/diligence/00-executive-summary.md + project_palantir_pitch memory @ SHA 9074c408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ask: a 30-minute scoping call. One corp-dev lead + one platform engineer is the right room shape — Foundry's value lands best when both sides are present.</a:t>
            </a:r>
          </a:p>
          <a:p/>
          <a:p>
            <a:r>
              <a:t>Three-step agenda is intentional: walk a signal, map onto ontology, decide. No deliverables required from the buyer in advance.</a:t>
            </a:r>
          </a:p>
          <a:p/>
          <a:p>
            <a:r>
              <a:t>Source: docs/diligence/00-executive-summary.md + project_palantir_pitch memory @ SHA 9074c408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ten files live under docs/diligence/. The microsite at web/acquirer/index.html is the same content reformatted for a single-page corp-dev brief.</a:t>
            </a:r>
          </a:p>
          <a:p/>
          <a:p>
            <a:r>
              <a:t>Source: docs/diligence/ + web/acquirer/index.html @ SHA 9074c408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Provenance addendum.</a:t>
            </a:r>
          </a:p>
          <a:p/>
          <a:p>
            <a:r>
              <a:t>Every numeric claim in this deck has a source command or file reference. The sidecar JSON file (lib/core/provenance.py-shape) records the same on disk.</a:t>
            </a:r>
          </a:p>
          <a:p/>
          <a:p>
            <a:r>
              <a:t>Source: lib/core/provenance.py @ SHA 9074c408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8EDCFF"/>
                </a:solidFill>
                <a:latin typeface="Menlo"/>
              </a:rPr>
              <a:t>[ S ]   SAPPHIRE 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10642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E6ECFF"/>
                </a:solidFill>
                <a:latin typeface="Helvetica Neue"/>
              </a:rPr>
              <a:t>A production-graded</a:t>
            </a:r>
          </a:p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E6ECFF"/>
                </a:solidFill>
                <a:latin typeface="Helvetica Neue"/>
              </a:rPr>
              <a:t>autonomy control plane.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8EDCFF"/>
                </a:solidFill>
                <a:latin typeface="Helvetica Neue"/>
              </a:rPr>
              <a:t>Risk-gated intelligence, trading research, and operations — auditable before action.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617720"/>
            <a:ext cx="2286000" cy="45720"/>
          </a:xfrm>
          <a:prstGeom prst="rect">
            <a:avLst/>
          </a:prstGeom>
          <a:solidFill>
            <a:srgbClr val="6DA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6ECFF"/>
                </a:solidFill>
                <a:latin typeface="Helvetica Neue"/>
              </a:rPr>
              <a:t>Aristotle Spec  ·  Operator + Founder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212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AAB4D4"/>
                </a:solidFill>
                <a:latin typeface="Helvetica Neue"/>
              </a:rPr>
              <a:t>Prepared for: Palantir Foundry corp-dev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AAB4D4"/>
                </a:solidFill>
                <a:latin typeface="Menlo"/>
              </a:rPr>
              <a:t>HEAD: 9074c408  ·  2026-04-29  ·  arigatoexpress/Sapphire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03504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AAB4D4"/>
                </a:solidFill>
                <a:latin typeface="Menlo"/>
              </a:rPr>
              <a:t>aristotlespec@gmail.com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E6ECFF"/>
                </a:solidFill>
                <a:latin typeface="Helvetica Neue"/>
              </a:rPr>
              <a:t>The 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AAB4D4"/>
                </a:solidFill>
                <a:latin typeface="Helvetica Neue"/>
              </a:rPr>
              <a:t>Why Sapphire is buyable, and why now.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3657600" cy="402336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 w="9525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6DA5FF"/>
                </a:solidFill>
                <a:latin typeface="Menl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E6ECFF"/>
                </a:solidFill>
                <a:latin typeface="Helvetica Neue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46120"/>
            <a:ext cx="310896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AAB4D4"/>
                </a:solidFill>
                <a:latin typeface="Helvetica Neue"/>
              </a:rPr>
              <a:t>An auditable intelligence + trading-research operating system. Multi-source signals fuse into one edge_score. Every artifact ships a provenance envelope. Every action passes a risk verdict before it fires.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783080"/>
            <a:ext cx="3657600" cy="402336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 w="9525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5152" y="205740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6DA5FF"/>
                </a:solidFill>
                <a:latin typeface="Menlo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5152" y="26974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E6ECFF"/>
                </a:solidFill>
                <a:latin typeface="Helvetica Neue"/>
              </a:rPr>
              <a:t>Why now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3246120"/>
            <a:ext cx="310896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AAB4D4"/>
                </a:solidFill>
                <a:latin typeface="Helvetica Neue"/>
              </a:rPr>
              <a:t>The differentiators are now separable: Risk Kernel, Provenance, Foundry Ontology, and a 5,304-test gate exist as packaged surfaces. Operator intuition is now file-addressable.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4" y="1783080"/>
            <a:ext cx="3657600" cy="402336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 w="9525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67344" y="205740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6DA5FF"/>
                </a:solidFill>
                <a:latin typeface="Menlo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67344" y="26974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E6ECFF"/>
                </a:solidFill>
                <a:latin typeface="Helvetica Neue"/>
              </a:rPr>
              <a:t>Why defensible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67344" y="3246120"/>
            <a:ext cx="310896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AAB4D4"/>
                </a:solidFill>
                <a:latin typeface="Helvetica Neue"/>
              </a:rPr>
              <a:t>The moat is restraint encoded in code: dry-run by default, fail-closed risk gates, no-spend CI, secrets outside the repo, live trading capped at $5 with manual confirm.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AAB4D4"/>
                </a:solidFill>
                <a:latin typeface="Helvetica Neue"/>
              </a:rPr>
              <a:t>Sapphire OS  ·  Pitch  ·  2026-04-29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AAB4D4"/>
                </a:solidFill>
                <a:latin typeface="Helvetica Neue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E6ECFF"/>
                </a:solidFill>
                <a:latin typeface="Helvetica Neue"/>
              </a:rPr>
              <a:t>The intelligence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AAB4D4"/>
                </a:solidFill>
                <a:latin typeface="Helvetica Neue"/>
              </a:rPr>
              <a:t>Seven independent signal sources fuse into one governed edge.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2887" y="1143000"/>
            <a:ext cx="9265920" cy="5212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AAB4D4"/>
                </a:solidFill>
                <a:latin typeface="Helvetica Neue"/>
              </a:rPr>
              <a:t>Sapphire OS  ·  Pitch  ·  2026-04-29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AAB4D4"/>
                </a:solidFill>
                <a:latin typeface="Helvetica Neue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6ECFF"/>
                </a:solidFill>
                <a:latin typeface="Helvetica Neue"/>
              </a:rPr>
              <a:t>Capabilities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AAB4D4"/>
                </a:solidFill>
                <a:latin typeface="Helvetica Neue"/>
              </a:rPr>
              <a:t>Fourteen sellable surfaces. Versioned, tested, separately purchasable.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6035040"/>
                <a:gridCol w="192024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1220"/>
                          </a:solidFill>
                          <a:latin typeface="Helvetica Neue"/>
                        </a:rPr>
                        <a:t>Surface</a:t>
                      </a:r>
                    </a:p>
                  </a:txBody>
                  <a:tcPr marL="73152" marR="73152" marT="45720" marB="45720">
                    <a:solidFill>
                      <a:srgbClr val="8ED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1220"/>
                          </a:solidFill>
                          <a:latin typeface="Helvetica Neue"/>
                        </a:rPr>
                        <a:t>What it does</a:t>
                      </a:r>
                    </a:p>
                  </a:txBody>
                  <a:tcPr marL="73152" marR="73152" marT="45720" marB="45720">
                    <a:solidFill>
                      <a:srgbClr val="8ED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1220"/>
                          </a:solidFill>
                          <a:latin typeface="Helvetica Neue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8EDC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6ECFF"/>
                          </a:solidFill>
                          <a:latin typeface="Helvetica Neue"/>
                        </a:rPr>
                        <a:t>Risk Kernel 0.1.0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AAB4D4"/>
                          </a:solidFill>
                          <a:latin typeface="Helvetica Neue"/>
                        </a:rPr>
                        <a:t>DecisionEnvelope → RiskVerdict; fail-closed policy tree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6EE7B7"/>
                          </a:solidFill>
                          <a:latin typeface="Helvetica Neue"/>
                        </a:rPr>
                        <a:t>live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6ECFF"/>
                          </a:solidFill>
                          <a:latin typeface="Helvetica Neue"/>
                        </a:rPr>
                        <a:t>Provenance Envelopes 0.1.0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AAB4D4"/>
                          </a:solidFill>
                          <a:latin typeface="Helvetica Neue"/>
                        </a:rPr>
                        <a:t>SHA-256 sidecar on every artifact; verifier in CI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6EE7B7"/>
                          </a:solidFill>
                          <a:latin typeface="Helvetica Neue"/>
                        </a:rPr>
                        <a:t>live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6ECFF"/>
                          </a:solidFill>
                          <a:latin typeface="Helvetica Neue"/>
                        </a:rPr>
                        <a:t>Signal Correlator 0.1.0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AAB4D4"/>
                          </a:solidFill>
                          <a:latin typeface="Helvetica Neue"/>
                        </a:rPr>
                        <a:t>8 source adapters → unified edge_score per (symbol, timeframe)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6EE7B7"/>
                          </a:solidFill>
                          <a:latin typeface="Helvetica Neue"/>
                        </a:rPr>
                        <a:t>live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6ECFF"/>
                          </a:solidFill>
                          <a:latin typeface="Helvetica Neue"/>
                        </a:rPr>
                        <a:t>Narrative Synthesis 0.1.0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AAB4D4"/>
                          </a:solidFill>
                          <a:latin typeface="Helvetica Neue"/>
                        </a:rPr>
                        <a:t>Bounded thesis + invalidators; rubric-gated publication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D166"/>
                          </a:solidFill>
                          <a:latin typeface="Helvetica Neue"/>
                        </a:rPr>
                        <a:t>dry-run default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6ECFF"/>
                          </a:solidFill>
                          <a:latin typeface="Helvetica Neue"/>
                        </a:rPr>
                        <a:t>Foundry Ontology 0.2.0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AAB4D4"/>
                          </a:solidFill>
                          <a:latin typeface="Helvetica Neue"/>
                        </a:rPr>
                        <a:t>13 typed objects with watermarks + idempotency ledger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D166"/>
                          </a:solidFill>
                          <a:latin typeface="Helvetica Neue"/>
                        </a:rPr>
                        <a:t>dry-run default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6ECFF"/>
                          </a:solidFill>
                          <a:latin typeface="Helvetica Neue"/>
                        </a:rPr>
                        <a:t>Threat Intel Product 0.1.0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AAB4D4"/>
                          </a:solidFill>
                          <a:latin typeface="Helvetica Neue"/>
                        </a:rPr>
                        <a:t>/threat-intel page over CISA KEV + NVD + MITRE ATT&amp;CK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6EE7B7"/>
                          </a:solidFill>
                          <a:latin typeface="Helvetica Neue"/>
                        </a:rPr>
                        <a:t>live (read-only)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6ECFF"/>
                          </a:solidFill>
                          <a:latin typeface="Helvetica Neue"/>
                        </a:rPr>
                        <a:t>Customer Dossier 0.2.0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AAB4D4"/>
                          </a:solidFill>
                          <a:latin typeface="Helvetica Neue"/>
                        </a:rPr>
                        <a:t>Per-tenant HMAC isolation + cell-suppression on PII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6EE7B7"/>
                          </a:solidFill>
                          <a:latin typeface="Helvetica Neue"/>
                        </a:rPr>
                        <a:t>live (read-only)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6ECFF"/>
                          </a:solidFill>
                          <a:latin typeface="Helvetica Neue"/>
                        </a:rPr>
                        <a:t>BQ Vector Retrieval 0.1.0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AAB4D4"/>
                          </a:solidFill>
                          <a:latin typeface="Helvetica Neue"/>
                        </a:rPr>
                        <a:t>intel_search over IntelVectorRecord; mock + BQ live path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D166"/>
                          </a:solidFill>
                          <a:latin typeface="Helvetica Neue"/>
                        </a:rPr>
                        <a:t>mock default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6ECFF"/>
                          </a:solidFill>
                          <a:latin typeface="Helvetica Neue"/>
                        </a:rPr>
                        <a:t>Cross-Asset Correlation 0.1.0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AAB4D4"/>
                          </a:solidFill>
                          <a:latin typeface="Helvetica Neue"/>
                        </a:rPr>
                        <a:t>Pearson/Spearman/Kendall + regime breakdown events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6EE7B7"/>
                          </a:solidFill>
                          <a:latin typeface="Helvetica Neue"/>
                        </a:rPr>
                        <a:t>live (read-only)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6ECFF"/>
                          </a:solidFill>
                          <a:latin typeface="Helvetica Neue"/>
                        </a:rPr>
                        <a:t>Macro Intel 0.1.0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AAB4D4"/>
                          </a:solidFill>
                          <a:latin typeface="Helvetica Neue"/>
                        </a:rPr>
                        <a:t>Fed/SEC/CFTC/Treasury official feeds + forward calendar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D166"/>
                          </a:solidFill>
                          <a:latin typeface="Helvetica Neue"/>
                        </a:rPr>
                        <a:t>dry-run default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6ECFF"/>
                          </a:solidFill>
                          <a:latin typeface="Helvetica Neue"/>
                        </a:rPr>
                        <a:t>Event-Impact Modeling 0.1.0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AAB4D4"/>
                          </a:solidFill>
                          <a:latin typeface="Helvetica Neue"/>
                        </a:rPr>
                        <a:t>Historical reaction profiles per (event class, asset, horizon)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6EE7B7"/>
                          </a:solidFill>
                          <a:latin typeface="Helvetica Neue"/>
                        </a:rPr>
                        <a:t>live (read-only)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6ECFF"/>
                          </a:solidFill>
                          <a:latin typeface="Helvetica Neue"/>
                        </a:rPr>
                        <a:t>Counterparty Intel 0.1.0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AAB4D4"/>
                          </a:solidFill>
                          <a:latin typeface="Helvetica Neue"/>
                        </a:rPr>
                        <a:t>Hyperliquid public top-trader consensus signals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6EE7B7"/>
                          </a:solidFill>
                          <a:latin typeface="Helvetica Neue"/>
                        </a:rPr>
                        <a:t>live (read-only)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6ECFF"/>
                          </a:solidFill>
                          <a:latin typeface="Helvetica Neue"/>
                        </a:rPr>
                        <a:t>On-Chain Intelligence 0.2.0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AAB4D4"/>
                          </a:solidFill>
                          <a:latin typeface="Helvetica Neue"/>
                        </a:rPr>
                        <a:t>Glassnode / Santiment / ETH+SOL nodes; provider-gated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D166"/>
                          </a:solidFill>
                          <a:latin typeface="Helvetica Neue"/>
                        </a:rPr>
                        <a:t>dry-run default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6ECFF"/>
                          </a:solidFill>
                          <a:latin typeface="Helvetica Neue"/>
                        </a:rPr>
                        <a:t>Adversarial Defense 0.1.0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AAB4D4"/>
                          </a:solidFill>
                          <a:latin typeface="Helvetica Neue"/>
                        </a:rPr>
                        <a:t>5 detectors: wash trade, prompt inj, oracle, false flag, bot pump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D166"/>
                          </a:solidFill>
                          <a:latin typeface="Helvetica Neue"/>
                        </a:rPr>
                        <a:t>telemetry-first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AAB4D4"/>
                </a:solidFill>
                <a:latin typeface="Helvetica Neue"/>
              </a:rPr>
              <a:t>Sapphire OS  ·  Pitch  ·  2026-04-29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AAB4D4"/>
                </a:solidFill>
                <a:latin typeface="Helvetica Neue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6ECFF"/>
                </a:solidFill>
                <a:latin typeface="Helvetica Neue"/>
              </a:rPr>
              <a:t>Safety posture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AAB4D4"/>
                </a:solidFill>
                <a:latin typeface="Helvetica Neue"/>
              </a:rPr>
              <a:t>Five kill-switch layers. Every mutation path passes through them.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2212848" cy="457200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 w="9525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2212848" cy="45720"/>
          </a:xfrm>
          <a:prstGeom prst="rect">
            <a:avLst/>
          </a:prstGeom>
          <a:solidFill>
            <a:srgbClr val="6DA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8470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EDCFF"/>
                </a:solidFill>
                <a:latin typeface="Menlo"/>
              </a:rPr>
              <a:t>L1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8470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E6ECFF"/>
                </a:solidFill>
                <a:latin typeface="Helvetica Neue"/>
              </a:rPr>
              <a:t>Trade-time invariants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6120"/>
            <a:ext cx="18470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AAB4D4"/>
                </a:solidFill>
                <a:latin typeface="Menlo"/>
              </a:rPr>
              <a:t>RiskKernelV1 + HardRiskKernel + portfolio kill switch.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51960"/>
            <a:ext cx="1847088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AAB4D4"/>
                </a:solidFill>
                <a:latin typeface="Helvetica Neue"/>
              </a:rPr>
              <a:t>Daily-loss · drawdown · ATR · kill-switch · data-leakage policies. Fail-closed verdict tree.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463040"/>
            <a:ext cx="2212848" cy="457200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 w="9525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0" y="1463040"/>
            <a:ext cx="2212848" cy="45720"/>
          </a:xfrm>
          <a:prstGeom prst="rect">
            <a:avLst/>
          </a:prstGeom>
          <a:solidFill>
            <a:srgbClr val="6DA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691640"/>
            <a:ext cx="18470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EDCFF"/>
                </a:solidFill>
                <a:latin typeface="Menlo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103120"/>
            <a:ext cx="18470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E6ECFF"/>
                </a:solidFill>
                <a:latin typeface="Helvetica Neue"/>
              </a:rPr>
              <a:t>Confirmation firewall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246120"/>
            <a:ext cx="18470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AAB4D4"/>
                </a:solidFill>
                <a:latin typeface="Menlo"/>
              </a:rPr>
              <a:t>lib/core/confirmation_firewall.py — 2-phase commit on destructive verbs.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4251960"/>
            <a:ext cx="1847088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AAB4D4"/>
                </a:solidFill>
                <a:latin typeface="Helvetica Neue"/>
              </a:rPr>
              <a:t>Read-only auto-approves. Financial / external / destructive require operator confirmation; destructive enforces 30-second delay.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1463040"/>
            <a:ext cx="2212848" cy="457200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 w="9525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0" y="1463040"/>
            <a:ext cx="2212848" cy="45720"/>
          </a:xfrm>
          <a:prstGeom prst="rect">
            <a:avLst/>
          </a:prstGeom>
          <a:solidFill>
            <a:srgbClr val="6DA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0" y="1691640"/>
            <a:ext cx="18470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EDCFF"/>
                </a:solidFill>
                <a:latin typeface="Menlo"/>
              </a:rPr>
              <a:t>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2103120"/>
            <a:ext cx="18470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E6ECFF"/>
                </a:solidFill>
                <a:latin typeface="Helvetica Neue"/>
              </a:rPr>
              <a:t>Operator manual halt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246120"/>
            <a:ext cx="18470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AAB4D4"/>
                </a:solidFill>
                <a:latin typeface="Menlo"/>
              </a:rPr>
              <a:t>Telegram /routines pause · /cancel-routine · CONFIRM token to resume.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4251960"/>
            <a:ext cx="1847088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AAB4D4"/>
                </a:solidFill>
                <a:latin typeface="Helvetica Neue"/>
              </a:rPr>
              <a:t>Pause flag short-circuits future ticks via abort_if_paused. In-flight work is not killed (intentional).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1463040"/>
            <a:ext cx="2212848" cy="457200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 w="9525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0" y="1463040"/>
            <a:ext cx="2212848" cy="45720"/>
          </a:xfrm>
          <a:prstGeom prst="rect">
            <a:avLst/>
          </a:prstGeom>
          <a:solidFill>
            <a:srgbClr val="6DA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0" y="1691640"/>
            <a:ext cx="18470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EDCFF"/>
                </a:solidFill>
                <a:latin typeface="Menlo"/>
              </a:rPr>
              <a:t>L4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0" y="2103120"/>
            <a:ext cx="18470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E6ECFF"/>
                </a:solidFill>
                <a:latin typeface="Helvetica Neue"/>
              </a:rPr>
              <a:t>Security kill switch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0" y="3246120"/>
            <a:ext cx="18470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AAB4D4"/>
                </a:solidFill>
                <a:latin typeface="Menlo"/>
              </a:rPr>
              <a:t>lib/core/security_kill_switch.py — for suspected account compromise.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0" y="4251960"/>
            <a:ext cx="1847088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AAB4D4"/>
                </a:solidFill>
                <a:latin typeface="Helvetica Neue"/>
              </a:rPr>
              <a:t>Stops signal logger, writes cloud-routing kill flag, unloads content engine, stops inference proxy. Reversible.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01200" y="1463040"/>
            <a:ext cx="2212848" cy="457200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 w="9525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01200" y="1463040"/>
            <a:ext cx="2212848" cy="45720"/>
          </a:xfrm>
          <a:prstGeom prst="rect">
            <a:avLst/>
          </a:prstGeom>
          <a:solidFill>
            <a:srgbClr val="6DA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0" y="1691640"/>
            <a:ext cx="18470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EDCFF"/>
                </a:solidFill>
                <a:latin typeface="Menlo"/>
              </a:rPr>
              <a:t>L5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2103120"/>
            <a:ext cx="18470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E6ECFF"/>
                </a:solidFill>
                <a:latin typeface="Helvetica Neue"/>
              </a:rPr>
              <a:t>Heartbeat + supervisor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080" y="3246120"/>
            <a:ext cx="18470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AAB4D4"/>
                </a:solidFill>
                <a:latin typeface="Menlo"/>
              </a:rPr>
              <a:t>lib/core/heartbeat.py + service_supervisor.py.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84080" y="4251960"/>
            <a:ext cx="1847088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AAB4D4"/>
                </a:solidFill>
                <a:latin typeface="Helvetica Neue"/>
              </a:rPr>
              <a:t>Per-component health state, consecutive-failure counters, and structured evidence — observability, not silent retargeting.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AAB4D4"/>
                </a:solidFill>
                <a:latin typeface="Helvetica Neue"/>
              </a:rPr>
              <a:t>Sapphire OS  ·  Pitch  ·  2026-04-29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AAB4D4"/>
                </a:solidFill>
                <a:latin typeface="Helvetica Neue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6ECFF"/>
                </a:solidFill>
                <a:latin typeface="Helvetica Neue"/>
              </a:rPr>
              <a:t>Production 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AAB4D4"/>
                </a:solidFill>
                <a:latin typeface="Helvetica Neue"/>
              </a:rPr>
              <a:t>Concrete numbers — pulled from the repo on 2026-04-28.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2788920" cy="233172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 w="9525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2423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8EDCFF"/>
                </a:solidFill>
                <a:latin typeface="Helvetica Neue"/>
              </a:rPr>
              <a:t>5,304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6ECFF"/>
                </a:solidFill>
                <a:latin typeface="Helvetica Neue"/>
              </a:rPr>
              <a:t>tests collected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AAB4D4"/>
                </a:solidFill>
                <a:latin typeface="Menlo"/>
              </a:rPr>
              <a:t>scripts/ops/test_inventory.py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5848" y="1463040"/>
            <a:ext cx="2788920" cy="233172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 w="9525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38728" y="1691640"/>
            <a:ext cx="2423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8EDCFF"/>
                </a:solidFill>
                <a:latin typeface="Helvetica Neue"/>
              </a:rPr>
              <a:t>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278892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6ECFF"/>
                </a:solidFill>
                <a:latin typeface="Helvetica Neue"/>
              </a:rPr>
              <a:t>plugin tools on disk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324612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AAB4D4"/>
                </a:solidFill>
                <a:latin typeface="Menlo"/>
              </a:rPr>
              <a:t>plugins/claw-sapphire/tools/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4496" y="1463040"/>
            <a:ext cx="2788920" cy="233172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 w="9525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376" y="1691640"/>
            <a:ext cx="2423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8EDCFF"/>
                </a:solidFill>
                <a:latin typeface="Helvetica Neue"/>
              </a:rPr>
              <a:t>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78892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6ECFF"/>
                </a:solidFill>
                <a:latin typeface="Helvetica Neue"/>
              </a:rPr>
              <a:t>dashboard pages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324612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AAB4D4"/>
                </a:solidFill>
                <a:latin typeface="Menlo"/>
              </a:rPr>
              <a:t>services/dashboard/templates/pages/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53144" y="1463040"/>
            <a:ext cx="2788920" cy="233172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 w="9525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36024" y="1691640"/>
            <a:ext cx="2423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8EDCFF"/>
                </a:solidFill>
                <a:latin typeface="Helvetica Neue"/>
              </a:rPr>
              <a:t>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6024" y="278892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6ECFF"/>
                </a:solidFill>
                <a:latin typeface="Helvetica Neue"/>
              </a:rPr>
              <a:t>macOS LaunchAgents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6024" y="324612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AAB4D4"/>
                </a:solidFill>
                <a:latin typeface="Menlo"/>
              </a:rPr>
              <a:t>infra/launchagents/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59352"/>
            <a:ext cx="2788920" cy="233172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 w="9525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187952"/>
            <a:ext cx="2423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8EDCFF"/>
                </a:solidFill>
                <a:latin typeface="Helvetica Neue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285232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6ECFF"/>
                </a:solidFill>
                <a:latin typeface="Helvetica Neue"/>
              </a:rPr>
              <a:t>quant strategies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742432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AAB4D4"/>
                </a:solidFill>
                <a:latin typeface="Menlo"/>
              </a:rPr>
              <a:t>lib/analytics/strategies/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55848" y="3959352"/>
            <a:ext cx="2788920" cy="233172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 w="9525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38728" y="4187952"/>
            <a:ext cx="2423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8EDCFF"/>
                </a:solidFill>
                <a:latin typeface="Helvetica Neue"/>
              </a:rPr>
              <a:t>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38728" y="5285232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6ECFF"/>
                </a:solidFill>
                <a:latin typeface="Helvetica Neue"/>
              </a:rPr>
              <a:t>Foundry ontology types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38728" y="5742432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AAB4D4"/>
                </a:solidFill>
                <a:latin typeface="Menlo"/>
              </a:rPr>
              <a:t>docs/foundry-ontology-schema.md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54496" y="3959352"/>
            <a:ext cx="2788920" cy="233172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 w="9525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37376" y="4187952"/>
            <a:ext cx="2423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8EDCFF"/>
                </a:solidFill>
                <a:latin typeface="Helvetica Neue"/>
              </a:rPr>
              <a:t>$5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37376" y="5285232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6ECFF"/>
                </a:solidFill>
                <a:latin typeface="Helvetica Neue"/>
              </a:rPr>
              <a:t>live-trading first-order cap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37376" y="5742432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AAB4D4"/>
                </a:solidFill>
                <a:latin typeface="Menlo"/>
              </a:rPr>
              <a:t>manual confirm · crypto only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53144" y="3959352"/>
            <a:ext cx="2788920" cy="233172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 w="9525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36024" y="4187952"/>
            <a:ext cx="2423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8EDCFF"/>
                </a:solidFill>
                <a:latin typeface="Helvetica Neue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36024" y="5285232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6ECFF"/>
                </a:solidFill>
                <a:latin typeface="Helvetica Neue"/>
              </a:rPr>
              <a:t>fabricated metrics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36024" y="5742432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AAB4D4"/>
                </a:solidFill>
                <a:latin typeface="Menlo"/>
              </a:rPr>
              <a:t>every number above is repo-grounded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AAB4D4"/>
                </a:solidFill>
                <a:latin typeface="Helvetica Neue"/>
              </a:rPr>
              <a:t>Sapphire OS  ·  Pitch  ·  2026-04-29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AAB4D4"/>
                </a:solidFill>
                <a:latin typeface="Helvetica Neue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6ECFF"/>
                </a:solidFill>
                <a:latin typeface="Helvetica Neue"/>
              </a:rPr>
              <a:t>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AAB4D4"/>
                </a:solidFill>
                <a:latin typeface="Helvetica Neue"/>
              </a:rPr>
              <a:t>Honest positioning. Primary-source-only research, 2026-04-28.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064240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737360"/>
                <a:gridCol w="1737360"/>
                <a:gridCol w="1737360"/>
                <a:gridCol w="173736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1220"/>
                          </a:solidFill>
                          <a:latin typeface="Helvetica Neue"/>
                        </a:rPr>
                        <a:t>Capability</a:t>
                      </a:r>
                    </a:p>
                  </a:txBody>
                  <a:tcPr marL="73152" marR="73152" marT="45720" marB="45720">
                    <a:solidFill>
                      <a:srgbClr val="8ED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B1220"/>
                          </a:solidFill>
                          <a:latin typeface="Helvetica Neue"/>
                        </a:rPr>
                        <a:t>Sapphire</a:t>
                      </a:r>
                    </a:p>
                  </a:txBody>
                  <a:tcPr marL="73152" marR="73152" marT="45720" marB="45720">
                    <a:solidFill>
                      <a:srgbClr val="8ED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B1220"/>
                          </a:solidFill>
                          <a:latin typeface="Helvetica Neue"/>
                        </a:rPr>
                        <a:t>Foundry/AIP</a:t>
                      </a:r>
                    </a:p>
                  </a:txBody>
                  <a:tcPr marL="73152" marR="73152" marT="45720" marB="45720">
                    <a:solidFill>
                      <a:srgbClr val="8ED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B1220"/>
                          </a:solidFill>
                          <a:latin typeface="Helvetica Neue"/>
                        </a:rPr>
                        <a:t>Cortex</a:t>
                      </a:r>
                    </a:p>
                  </a:txBody>
                  <a:tcPr marL="73152" marR="73152" marT="45720" marB="45720">
                    <a:solidFill>
                      <a:srgbClr val="8EDC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B1220"/>
                          </a:solidFill>
                          <a:latin typeface="Helvetica Neue"/>
                        </a:rPr>
                        <a:t>Bloomberg</a:t>
                      </a:r>
                    </a:p>
                  </a:txBody>
                  <a:tcPr marL="73152" marR="73152" marT="45720" marB="45720">
                    <a:solidFill>
                      <a:srgbClr val="8EDC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6ECFF"/>
                          </a:solidFill>
                          <a:latin typeface="Helvetica Neue"/>
                        </a:rPr>
                        <a:t>Multi-source signal correlation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EE7B7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D166"/>
                          </a:solidFill>
                          <a:latin typeface="Helvetica Neue"/>
                        </a:rPr>
                        <a:t>partial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D166"/>
                          </a:solidFill>
                          <a:latin typeface="Helvetica Neue"/>
                        </a:rPr>
                        <a:t>partial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D166"/>
                          </a:solidFill>
                          <a:latin typeface="Helvetica Neue"/>
                        </a:rPr>
                        <a:t>partial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6ECFF"/>
                          </a:solidFill>
                          <a:latin typeface="Helvetica Neue"/>
                        </a:rPr>
                        <a:t>Typed ontology / decision objects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D166"/>
                          </a:solidFill>
                          <a:latin typeface="Helvetica Neue"/>
                        </a:rPr>
                        <a:t>partial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EE7B7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AAB4D4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D166"/>
                          </a:solidFill>
                          <a:latin typeface="Helvetica Neue"/>
                        </a:rPr>
                        <a:t>partial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6ECFF"/>
                          </a:solidFill>
                          <a:latin typeface="Helvetica Neue"/>
                        </a:rPr>
                        <a:t>Per-artifact provenance envelopes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EE7B7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D166"/>
                          </a:solidFill>
                          <a:latin typeface="Helvetica Neue"/>
                        </a:rPr>
                        <a:t>partial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AAB4D4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D166"/>
                          </a:solidFill>
                          <a:latin typeface="Helvetica Neue"/>
                        </a:rPr>
                        <a:t>partial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6ECFF"/>
                          </a:solidFill>
                          <a:latin typeface="Helvetica Neue"/>
                        </a:rPr>
                        <a:t>Bounded narrative synthesis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D166"/>
                          </a:solidFill>
                          <a:latin typeface="Helvetica Neue"/>
                        </a:rPr>
                        <a:t>partial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D166"/>
                          </a:solidFill>
                          <a:latin typeface="Helvetica Neue"/>
                        </a:rPr>
                        <a:t>partial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D166"/>
                          </a:solidFill>
                          <a:latin typeface="Helvetica Neue"/>
                        </a:rPr>
                        <a:t>partial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D166"/>
                          </a:solidFill>
                          <a:latin typeface="Helvetica Neue"/>
                        </a:rPr>
                        <a:t>partial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6ECFF"/>
                          </a:solidFill>
                          <a:latin typeface="Helvetica Neue"/>
                        </a:rPr>
                        <a:t>Dry-run external actions + no-spend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EE7B7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AAB4D4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D166"/>
                          </a:solidFill>
                          <a:latin typeface="Helvetica Neue"/>
                        </a:rPr>
                        <a:t>partial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AAB4D4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6ECFF"/>
                          </a:solidFill>
                          <a:latin typeface="Helvetica Neue"/>
                        </a:rPr>
                        <a:t>Owner-operated autonomy (1-operator)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EE7B7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AAB4D4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AAB4D4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AAB4D4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6ECFF"/>
                          </a:solidFill>
                          <a:latin typeface="Helvetica Neue"/>
                        </a:rPr>
                        <a:t>Regulated execution (broker / exchange)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9090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9090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EE7B7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D166"/>
                          </a:solidFill>
                          <a:latin typeface="Helvetica Neue"/>
                        </a:rPr>
                        <a:t>partial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6ECFF"/>
                          </a:solidFill>
                          <a:latin typeface="Helvetica Neue"/>
                        </a:rPr>
                        <a:t>Real-time institutional market data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9090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D166"/>
                          </a:solidFill>
                          <a:latin typeface="Helvetica Neue"/>
                        </a:rPr>
                        <a:t>partial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D166"/>
                          </a:solidFill>
                          <a:latin typeface="Helvetica Neue"/>
                        </a:rPr>
                        <a:t>partial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EE7B7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6ECFF"/>
                          </a:solidFill>
                          <a:latin typeface="Helvetica Neue"/>
                        </a:rPr>
                        <a:t>Enterprise implementation partners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9090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EE7B7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AAB4D4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D166"/>
                          </a:solidFill>
                          <a:latin typeface="Helvetica Neue"/>
                        </a:rPr>
                        <a:t>partial</a:t>
                      </a:r>
                    </a:p>
                  </a:txBody>
                  <a:tcPr marL="73152" marR="73152" marT="45720" marB="45720">
                    <a:solidFill>
                      <a:srgbClr val="111A2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21208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AAB4D4"/>
                </a:solidFill>
                <a:latin typeface="Helvetica Neue"/>
              </a:rPr>
              <a:t>The honest differentiator: governed owner-operated autonomy. We are weakest on regulated execution and licensed market data — and we deliberately do not compete there.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AAB4D4"/>
                </a:solidFill>
                <a:latin typeface="Helvetica Neue"/>
              </a:rPr>
              <a:t>Sapphire OS  ·  Pitch  ·  2026-04-29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AAB4D4"/>
                </a:solidFill>
                <a:latin typeface="Helvetica Neue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6ECFF"/>
                </a:solidFill>
                <a:latin typeface="Helvetica Neue"/>
              </a:rPr>
              <a:t>Why Palantir Foundry corp-dev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AAB4D4"/>
                </a:solidFill>
                <a:latin typeface="Helvetica Neue"/>
              </a:rPr>
              <a:t>Sapphire speaks Foundry's language already. We have the ontology, the provenance, the action contract.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3703320" cy="457200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 w="9525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3703320" cy="54864"/>
          </a:xfrm>
          <a:prstGeom prst="rect">
            <a:avLst/>
          </a:prstGeom>
          <a:solidFill>
            <a:srgbClr val="6DA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E6ECFF"/>
                </a:solidFill>
                <a:latin typeface="Helvetica Neue"/>
              </a:rPr>
              <a:t>Ontology alignment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8EDCFF"/>
                </a:solidFill>
                <a:latin typeface="Helvetica Neue"/>
              </a:rPr>
              <a:t>13 typed objects (Foundry Ontology 0.2.0)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15468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AAB4D4"/>
                </a:solidFill>
                <a:latin typeface="Helvetica Neue"/>
              </a:rPr>
              <a:t>PaperTrade · Alert · ServiceHealth · ThreatIntel · DailyBrief · Region · IntelItem · IntelSourceHealth · IntelVectorRecord · TelegramIntelMessage · HyperliquidSignal · OODAPacket · ThreatIndicator.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AAB4D4"/>
                </a:solidFill>
                <a:latin typeface="Helvetica Neue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AAB4D4"/>
                </a:solidFill>
                <a:latin typeface="Helvetica Neue"/>
              </a:rPr>
              <a:t>Watermarks + idempotency ledger. Live mode behind SAPPHIRE_FOUNDRY_LIVE=1.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463040"/>
            <a:ext cx="3703320" cy="457200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 w="9525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463040"/>
            <a:ext cx="3703320" cy="54864"/>
          </a:xfrm>
          <a:prstGeom prst="rect">
            <a:avLst/>
          </a:prstGeom>
          <a:solidFill>
            <a:srgbClr val="6DA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783080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E6ECFF"/>
                </a:solidFill>
                <a:latin typeface="Helvetica Neue"/>
              </a:rPr>
              <a:t>AIP-shaped governance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468880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8EDCFF"/>
                </a:solidFill>
                <a:latin typeface="Helvetica Neue"/>
              </a:rPr>
              <a:t>Risk Kernel + Provenance + Confirmation Firewall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246120"/>
            <a:ext cx="315468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AAB4D4"/>
                </a:solidFill>
                <a:latin typeface="Helvetica Neue"/>
              </a:rPr>
              <a:t>Per-artifact envelope + risk verdict + 2-phase confirmation matches AIP Logic's evaluation + action gating shape.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AAB4D4"/>
                </a:solidFill>
                <a:latin typeface="Helvetica Neue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AAB4D4"/>
                </a:solidFill>
                <a:latin typeface="Helvetica Neue"/>
              </a:rPr>
              <a:t>What Foundry sells as enterprise infrastructure, Sapphire ships as a compact single-operator reference implementation.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80" y="1463040"/>
            <a:ext cx="3703320" cy="457200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 w="9525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3880" y="1463040"/>
            <a:ext cx="3703320" cy="54864"/>
          </a:xfrm>
          <a:prstGeom prst="rect">
            <a:avLst/>
          </a:prstGeom>
          <a:solidFill>
            <a:srgbClr val="6DA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1783080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E6ECFF"/>
                </a:solidFill>
                <a:latin typeface="Helvetica Neue"/>
              </a:rPr>
              <a:t>POC fit, not replacement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468880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8EDCFF"/>
                </a:solidFill>
                <a:latin typeface="Helvetica Neue"/>
              </a:rPr>
              <a:t>We don't out-Foundry Foundry — we plug into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246120"/>
            <a:ext cx="315468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AAB4D4"/>
                </a:solidFill>
                <a:latin typeface="Helvetica Neue"/>
              </a:rPr>
              <a:t>Sapphire is exactly the right size to be a Foundry pilot tenant: 5,304 tests, 14 productized surfaces, and provenance discipline that maps to your ontology contracts on day 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AAB4D4"/>
                </a:solidFill>
                <a:latin typeface="Helvetica Neue"/>
              </a:rPr>
              <a:t>Sapphire OS  ·  Pitch  ·  2026-04-29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AAB4D4"/>
                </a:solidFill>
                <a:latin typeface="Helvetica Neue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6ECFF"/>
                </a:solidFill>
                <a:latin typeface="Helvetica Neue"/>
              </a:rPr>
              <a:t>Live-trading ramp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AAB4D4"/>
                </a:solidFill>
                <a:latin typeface="Helvetica Neue"/>
              </a:rPr>
              <a:t>Paper-mostly today. Live-capital path is gated by metrics, not vibes.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3383280" cy="246888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 w="9525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08760"/>
            <a:ext cx="3383280" cy="54864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6EE7B7"/>
                </a:solidFill>
                <a:latin typeface="Helvetica Neue"/>
              </a:rPr>
              <a:t>$5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6ECFF"/>
                </a:solidFill>
                <a:latin typeface="Helvetica Neue"/>
              </a:rPr>
              <a:t>First-order 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2834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AAB4D4"/>
                </a:solidFill>
                <a:latin typeface="Helvetica Neue"/>
              </a:rPr>
              <a:t>Single manual-confirm crypto limit order. UUID client_order_id. One-order confirmation token. Crypto only.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25146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DA5FF"/>
                </a:solidFill>
                <a:latin typeface="Helvetica Neue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17720" y="1508760"/>
            <a:ext cx="3383280" cy="246888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 w="9525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17720" y="1508760"/>
            <a:ext cx="3383280" cy="54864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178308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D166"/>
                </a:solidFill>
                <a:latin typeface="Helvetica Neue"/>
              </a:rPr>
              <a:t>$50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65176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6ECFF"/>
                </a:solidFill>
                <a:latin typeface="Helvetica Neue"/>
              </a:rPr>
              <a:t>Capped pilot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3108960"/>
            <a:ext cx="2834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AAB4D4"/>
                </a:solidFill>
                <a:latin typeface="Helvetica Neue"/>
              </a:rPr>
              <a:t>After 14 trading days · Sortino &gt; 1.5 at the strategy level · no firewall bypass · clean readiness sweep. Daily live cap $10.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5146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DA5FF"/>
                </a:solidFill>
                <a:latin typeface="Helvetica Neue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5360" y="1508760"/>
            <a:ext cx="3383280" cy="246888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 w="9525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95360" y="1508760"/>
            <a:ext cx="3383280" cy="54864"/>
          </a:xfrm>
          <a:prstGeom prst="rect">
            <a:avLst/>
          </a:prstGeom>
          <a:solidFill>
            <a:srgbClr val="AAB4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0" y="178308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AAB4D4"/>
                </a:solidFill>
                <a:latin typeface="Helvetica Neue"/>
              </a:rPr>
              <a:t>$500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65176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6ECFF"/>
                </a:solidFill>
                <a:latin typeface="Helvetica Neue"/>
              </a:rPr>
              <a:t>Live tier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3108960"/>
            <a:ext cx="2834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AAB4D4"/>
                </a:solidFill>
                <a:latin typeface="Helvetica Neue"/>
              </a:rPr>
              <a:t>Designed future rung. Requires fresh PR · operator-reviewed runbook update · stronger live-order telemetry. Not active today.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297680"/>
            <a:ext cx="10927080" cy="1874519"/>
          </a:xfrm>
          <a:prstGeom prst="roundRect">
            <a:avLst>
              <a:gd name="adj" fmla="val 6000"/>
            </a:avLst>
          </a:prstGeom>
          <a:solidFill>
            <a:srgbClr val="111A2E"/>
          </a:solidFill>
          <a:ln w="12700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46227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D166"/>
                </a:solidFill>
                <a:latin typeface="Helvetica Neue"/>
              </a:rPr>
              <a:t>Honest framing — live posture as of 2026-04-28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92040"/>
            <a:ext cx="10469880" cy="1325880"/>
          </a:xfrm>
          <a:prstGeom prst="rect">
            <a:avLst/>
          </a:prstGeom>
          <a:noFill/>
        </p:spPr>
        <p:txBody>
          <a:bodyPr wrap="square" l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D166"/>
                </a:solidFill>
                <a:latin typeface="Helvetica Neue"/>
              </a:rPr>
              <a:t>•  </a:t>
            </a:r>
            <a:r>
              <a:rPr sz="1150">
                <a:solidFill>
                  <a:srgbClr val="E6ECFF"/>
                </a:solidFill>
                <a:latin typeface="Helvetica Neue"/>
              </a:rPr>
              <a:t>Sapphire is paper-mostly. The default path is paper trading + dry-run order drafts.</a:t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D166"/>
                </a:solidFill>
                <a:latin typeface="Helvetica Neue"/>
              </a:rPr>
              <a:t>•  </a:t>
            </a:r>
            <a:r>
              <a:rPr sz="1150">
                <a:solidFill>
                  <a:srgbClr val="E6ECFF"/>
                </a:solidFill>
                <a:latin typeface="Helvetica Neue"/>
              </a:rPr>
              <a:t>Live posture is manual_confirmed_crypto_only. Stock automation is blocked — no official broker API exists.</a:t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D166"/>
                </a:solidFill>
                <a:latin typeface="Helvetica Neue"/>
              </a:rPr>
              <a:t>•  </a:t>
            </a:r>
            <a:r>
              <a:rPr sz="1150">
                <a:solidFill>
                  <a:srgbClr val="E6ECFF"/>
                </a:solidFill>
                <a:latin typeface="Helvetica Neue"/>
              </a:rPr>
              <a:t>Every rung is reversible. Removing --execute and pausing routines returns the system to paper-only.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AAB4D4"/>
                </a:solidFill>
                <a:latin typeface="Helvetica Neue"/>
              </a:rPr>
              <a:t>Sapphire OS  ·  Pitch  ·  2026-04-29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AAB4D4"/>
                </a:solidFill>
                <a:latin typeface="Helvetica Neue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6ECFF"/>
                </a:solidFill>
                <a:latin typeface="Helvetica Neue"/>
              </a:rPr>
              <a:t>Team + 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AAB4D4"/>
                </a:solidFill>
                <a:latin typeface="Helvetica Neue"/>
              </a:rPr>
              <a:t>One operator. Four years of compounded autonomy infrastructure.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532120" cy="475488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 w="9525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532120" cy="54864"/>
          </a:xfrm>
          <a:prstGeom prst="rect">
            <a:avLst/>
          </a:prstGeom>
          <a:solidFill>
            <a:srgbClr val="6DA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E6ECFF"/>
                </a:solidFill>
                <a:latin typeface="Helvetica Neue"/>
              </a:rPr>
              <a:t>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8EDCFF"/>
                </a:solidFill>
                <a:latin typeface="Helvetica Neue"/>
              </a:rPr>
              <a:t>Aristotle Spec — operator, founder, repo author.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4983480" cy="3291840"/>
          </a:xfrm>
          <a:prstGeom prst="rect">
            <a:avLst/>
          </a:prstGeom>
          <a:noFill/>
        </p:spPr>
        <p:txBody>
          <a:bodyPr wrap="square" l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8EDCFF"/>
                </a:solidFill>
                <a:latin typeface="Helvetica Neue"/>
              </a:rPr>
              <a:t>•  </a:t>
            </a:r>
            <a:r>
              <a:rPr sz="1250">
                <a:solidFill>
                  <a:srgbClr val="AAB4D4"/>
                </a:solidFill>
                <a:latin typeface="Helvetica Neue"/>
              </a:rPr>
              <a:t>Sole repo committer. Final risk authority.</a:t>
            </a:r>
          </a:p>
          <a:p>
            <a:pPr algn="l">
              <a:lnSpc>
                <a:spcPct val="125000"/>
              </a:lnSpc>
            </a:pPr>
            <a:r>
              <a:rPr sz="1350" b="1">
                <a:solidFill>
                  <a:srgbClr val="8EDCFF"/>
                </a:solidFill>
                <a:latin typeface="Helvetica Neue"/>
              </a:rPr>
              <a:t>•  </a:t>
            </a:r>
            <a:r>
              <a:rPr sz="1250">
                <a:solidFill>
                  <a:srgbClr val="AAB4D4"/>
                </a:solidFill>
                <a:latin typeface="Helvetica Neue"/>
              </a:rPr>
              <a:t>Operator-in-residence through transition window.</a:t>
            </a:r>
          </a:p>
          <a:p>
            <a:pPr algn="l">
              <a:lnSpc>
                <a:spcPct val="125000"/>
              </a:lnSpc>
            </a:pPr>
            <a:r>
              <a:rPr sz="1350" b="1">
                <a:solidFill>
                  <a:srgbClr val="8EDCFF"/>
                </a:solidFill>
                <a:latin typeface="Helvetica Neue"/>
              </a:rPr>
              <a:t>•  </a:t>
            </a:r>
            <a:r>
              <a:rPr sz="1250">
                <a:solidFill>
                  <a:srgbClr val="AAB4D4"/>
                </a:solidFill>
                <a:latin typeface="Helvetica Neue"/>
              </a:rPr>
              <a:t>Codex (production-autonomy assistant) handles repo work; Claude / Hermes are constrained reviewers.</a:t>
            </a:r>
          </a:p>
          <a:p>
            <a:pPr algn="l">
              <a:lnSpc>
                <a:spcPct val="125000"/>
              </a:lnSpc>
            </a:pPr>
            <a:r>
              <a:rPr sz="1350" b="1">
                <a:solidFill>
                  <a:srgbClr val="8EDCFF"/>
                </a:solidFill>
                <a:latin typeface="Helvetica Neue"/>
              </a:rPr>
              <a:t>•  </a:t>
            </a:r>
            <a:r>
              <a:rPr sz="1250">
                <a:solidFill>
                  <a:srgbClr val="AAB4D4"/>
                </a:solidFill>
                <a:latin typeface="Helvetica Neue"/>
              </a:rPr>
              <a:t>Honest: key-person concentration is a risk. The diligence packet exists to make it transferable.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63040"/>
            <a:ext cx="5532120" cy="475488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 w="9525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463040"/>
            <a:ext cx="5532120" cy="54864"/>
          </a:xfrm>
          <a:prstGeom prst="rect">
            <a:avLst/>
          </a:prstGeom>
          <a:solidFill>
            <a:srgbClr val="8E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73736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E6ECFF"/>
                </a:solidFill>
                <a:latin typeface="Helvetica Neue"/>
              </a:rPr>
              <a:t>IP + 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24028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8EDCFF"/>
                </a:solidFill>
                <a:latin typeface="Helvetica Neue"/>
              </a:rPr>
              <a:t>Private monorepo. Single owner. No outstanding contributor licenses.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88920"/>
            <a:ext cx="4983480" cy="3291840"/>
          </a:xfrm>
          <a:prstGeom prst="rect">
            <a:avLst/>
          </a:prstGeom>
          <a:noFill/>
        </p:spPr>
        <p:txBody>
          <a:bodyPr wrap="square" l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8EDCFF"/>
                </a:solidFill>
                <a:latin typeface="Helvetica Neue"/>
              </a:rPr>
              <a:t>•  </a:t>
            </a:r>
            <a:r>
              <a:rPr sz="1250">
                <a:solidFill>
                  <a:srgbClr val="AAB4D4"/>
                </a:solidFill>
                <a:latin typeface="Helvetica Neue"/>
              </a:rPr>
              <a:t>Core repo: arigatoexpress/Sapphire (private). 5,304 tests · 14 product surfaces · 32 dashboard pages.</a:t>
            </a:r>
          </a:p>
          <a:p>
            <a:pPr algn="l">
              <a:lnSpc>
                <a:spcPct val="125000"/>
              </a:lnSpc>
            </a:pPr>
            <a:r>
              <a:rPr sz="1350" b="1">
                <a:solidFill>
                  <a:srgbClr val="8EDCFF"/>
                </a:solidFill>
                <a:latin typeface="Helvetica Neue"/>
              </a:rPr>
              <a:t>•  </a:t>
            </a:r>
            <a:r>
              <a:rPr sz="1250">
                <a:solidFill>
                  <a:srgbClr val="AAB4D4"/>
                </a:solidFill>
                <a:latin typeface="Helvetica Neue"/>
              </a:rPr>
              <a:t>Satellite repos orchestrated, not absorbed.</a:t>
            </a:r>
          </a:p>
          <a:p>
            <a:pPr algn="l">
              <a:lnSpc>
                <a:spcPct val="125000"/>
              </a:lnSpc>
            </a:pPr>
            <a:r>
              <a:rPr sz="1350" b="1">
                <a:solidFill>
                  <a:srgbClr val="8EDCFF"/>
                </a:solidFill>
                <a:latin typeface="Helvetica Neue"/>
              </a:rPr>
              <a:t>•  </a:t>
            </a:r>
            <a:r>
              <a:rPr sz="1250">
                <a:solidFill>
                  <a:srgbClr val="AAB4D4"/>
                </a:solidFill>
                <a:latin typeface="Helvetica Neue"/>
              </a:rPr>
              <a:t>Smart contracts: SapphireSignalVerifier + PaymentGate on Robinhood Chain testnet (Arbitrum Orbit).</a:t>
            </a:r>
          </a:p>
          <a:p>
            <a:pPr algn="l">
              <a:lnSpc>
                <a:spcPct val="125000"/>
              </a:lnSpc>
            </a:pPr>
            <a:r>
              <a:rPr sz="1350" b="1">
                <a:solidFill>
                  <a:srgbClr val="8EDCFF"/>
                </a:solidFill>
                <a:latin typeface="Helvetica Neue"/>
              </a:rPr>
              <a:t>•  </a:t>
            </a:r>
            <a:r>
              <a:rPr sz="1250">
                <a:solidFill>
                  <a:srgbClr val="AAB4D4"/>
                </a:solidFill>
                <a:latin typeface="Helvetica Neue"/>
              </a:rPr>
              <a:t>Dependencies audited via OSV + Trivy. CycloneDX SBOM.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AAB4D4"/>
                </a:solidFill>
                <a:latin typeface="Helvetica Neue"/>
              </a:rPr>
              <a:t>Sapphire OS  ·  Pitch  ·  2026-04-29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AAB4D4"/>
                </a:solidFill>
                <a:latin typeface="Helvetica Neue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6ECFF"/>
                </a:solidFill>
                <a:latin typeface="Helvetica Neue"/>
              </a:rPr>
              <a:t>Acquisition rationale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AAB4D4"/>
                </a:solidFill>
                <a:latin typeface="Helvetica Neue"/>
              </a:rPr>
              <a:t>Three structures. Pick the one that matches your conviction window.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3703320" cy="475488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 w="9525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3703320" cy="54864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EE7B7"/>
                </a:solidFill>
                <a:latin typeface="Menlo"/>
              </a:rPr>
              <a:t>Option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E6ECFF"/>
                </a:solidFill>
                <a:latin typeface="Helvetica Neue"/>
              </a:rPr>
              <a:t>Integration POC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8892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AAB4D4"/>
                </a:solidFill>
                <a:latin typeface="Helvetica Neue"/>
              </a:rPr>
              <a:t>Lowest commitment. Highest signal.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29000"/>
            <a:ext cx="3154680" cy="2148840"/>
          </a:xfrm>
          <a:prstGeom prst="rect">
            <a:avLst/>
          </a:prstGeom>
          <a:noFill/>
        </p:spPr>
        <p:txBody>
          <a:bodyPr wrap="square" l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6EE7B7"/>
                </a:solidFill>
                <a:latin typeface="Helvetica Neue"/>
              </a:rPr>
              <a:t>•  </a:t>
            </a:r>
            <a:r>
              <a:rPr sz="1100">
                <a:solidFill>
                  <a:srgbClr val="AAB4D4"/>
                </a:solidFill>
                <a:latin typeface="Helvetica Neue"/>
              </a:rPr>
              <a:t>30-day Foundry-pilot scoping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6EE7B7"/>
                </a:solidFill>
                <a:latin typeface="Helvetica Neue"/>
              </a:rPr>
              <a:t>•  </a:t>
            </a:r>
            <a:r>
              <a:rPr sz="1100">
                <a:solidFill>
                  <a:srgbClr val="AAB4D4"/>
                </a:solidFill>
                <a:latin typeface="Helvetica Neue"/>
              </a:rPr>
              <a:t>Sapphire syncs into your ontology read-only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6EE7B7"/>
                </a:solidFill>
                <a:latin typeface="Helvetica Neue"/>
              </a:rPr>
              <a:t>•  </a:t>
            </a:r>
            <a:r>
              <a:rPr sz="1100">
                <a:solidFill>
                  <a:srgbClr val="AAB4D4"/>
                </a:solidFill>
                <a:latin typeface="Helvetica Neue"/>
              </a:rPr>
              <a:t>No equity event; budget-light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6EE7B7"/>
                </a:solidFill>
                <a:latin typeface="Helvetica Neue"/>
              </a:rPr>
              <a:t>•  </a:t>
            </a:r>
            <a:r>
              <a:rPr sz="1100">
                <a:solidFill>
                  <a:srgbClr val="AAB4D4"/>
                </a:solidFill>
                <a:latin typeface="Helvetica Neue"/>
              </a:rPr>
              <a:t>Outcome: decide whether to escalate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71500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EE7B7"/>
                </a:solidFill>
                <a:latin typeface="Helvetica Neue"/>
              </a:rPr>
              <a:t>Recommended first step.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463040"/>
            <a:ext cx="3703320" cy="475488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 w="9525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463040"/>
            <a:ext cx="3703320" cy="54864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73736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D166"/>
                </a:solidFill>
                <a:latin typeface="Menlo"/>
              </a:rPr>
              <a:t>Option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1031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E6ECFF"/>
                </a:solidFill>
                <a:latin typeface="Helvetica Neue"/>
              </a:rPr>
              <a:t>Talent + IP licensing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78892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AAB4D4"/>
                </a:solidFill>
                <a:latin typeface="Helvetica Neue"/>
              </a:rPr>
              <a:t>Acqui-hire shape with code carve-out.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429000"/>
            <a:ext cx="3154680" cy="2148840"/>
          </a:xfrm>
          <a:prstGeom prst="rect">
            <a:avLst/>
          </a:prstGeom>
          <a:noFill/>
        </p:spPr>
        <p:txBody>
          <a:bodyPr wrap="square" l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D166"/>
                </a:solidFill>
                <a:latin typeface="Helvetica Neue"/>
              </a:rPr>
              <a:t>•  </a:t>
            </a:r>
            <a:r>
              <a:rPr sz="1100">
                <a:solidFill>
                  <a:srgbClr val="AAB4D4"/>
                </a:solidFill>
                <a:latin typeface="Helvetica Neue"/>
              </a:rPr>
              <a:t>Risk Kernel + Provenance Envelopes as MIT/Apache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D166"/>
                </a:solidFill>
                <a:latin typeface="Helvetica Neue"/>
              </a:rPr>
              <a:t>•  </a:t>
            </a:r>
            <a:r>
              <a:rPr sz="1100">
                <a:solidFill>
                  <a:srgbClr val="AAB4D4"/>
                </a:solidFill>
                <a:latin typeface="Helvetica Neue"/>
              </a:rPr>
              <a:t>Operator joins as Foundry safety-IC for 18–24 mo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D166"/>
                </a:solidFill>
                <a:latin typeface="Helvetica Neue"/>
              </a:rPr>
              <a:t>•  </a:t>
            </a:r>
            <a:r>
              <a:rPr sz="1100">
                <a:solidFill>
                  <a:srgbClr val="AAB4D4"/>
                </a:solidFill>
                <a:latin typeface="Helvetica Neue"/>
              </a:rPr>
              <a:t>Mid-range cash + retention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D166"/>
                </a:solidFill>
                <a:latin typeface="Helvetica Neue"/>
              </a:rPr>
              <a:t>•  </a:t>
            </a:r>
            <a:r>
              <a:rPr sz="1100">
                <a:solidFill>
                  <a:srgbClr val="AAB4D4"/>
                </a:solidFill>
                <a:latin typeface="Helvetica Neue"/>
              </a:rPr>
              <a:t>Outcome: codify the safety pattern inside Foundry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571500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D166"/>
                </a:solidFill>
                <a:latin typeface="Helvetica Neue"/>
              </a:rPr>
              <a:t>If conviction lands on the safety pattern.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80" y="1463040"/>
            <a:ext cx="3703320" cy="475488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 w="9525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80" y="1463040"/>
            <a:ext cx="3703320" cy="54864"/>
          </a:xfrm>
          <a:prstGeom prst="rect">
            <a:avLst/>
          </a:prstGeom>
          <a:solidFill>
            <a:srgbClr val="8E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200" y="173736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EDCFF"/>
                </a:solidFill>
                <a:latin typeface="Menlo"/>
              </a:rPr>
              <a:t>Option 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1031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E6ECFF"/>
                </a:solidFill>
                <a:latin typeface="Helvetica Neue"/>
              </a:rPr>
              <a:t>Full acquisition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278892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AAB4D4"/>
                </a:solidFill>
                <a:latin typeface="Helvetica Neue"/>
              </a:rPr>
              <a:t>Sapphire as the autonomy-layer reference implementation.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3429000"/>
            <a:ext cx="3154680" cy="2148840"/>
          </a:xfrm>
          <a:prstGeom prst="rect">
            <a:avLst/>
          </a:prstGeom>
          <a:noFill/>
        </p:spPr>
        <p:txBody>
          <a:bodyPr wrap="square" l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8EDCFF"/>
                </a:solidFill>
                <a:latin typeface="Helvetica Neue"/>
              </a:rPr>
              <a:t>•  </a:t>
            </a:r>
            <a:r>
              <a:rPr sz="1100">
                <a:solidFill>
                  <a:srgbClr val="AAB4D4"/>
                </a:solidFill>
                <a:latin typeface="Helvetica Neue"/>
              </a:rPr>
              <a:t>Full repo + satellites under buyer ownership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8EDCFF"/>
                </a:solidFill>
                <a:latin typeface="Helvetica Neue"/>
              </a:rPr>
              <a:t>•  </a:t>
            </a:r>
            <a:r>
              <a:rPr sz="1100">
                <a:solidFill>
                  <a:srgbClr val="AAB4D4"/>
                </a:solidFill>
                <a:latin typeface="Helvetica Neue"/>
              </a:rPr>
              <a:t>Operator-in-residence transition (6–12 mo)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8EDCFF"/>
                </a:solidFill>
                <a:latin typeface="Helvetica Neue"/>
              </a:rPr>
              <a:t>•  </a:t>
            </a:r>
            <a:r>
              <a:rPr sz="1100">
                <a:solidFill>
                  <a:srgbClr val="AAB4D4"/>
                </a:solidFill>
                <a:latin typeface="Helvetica Neue"/>
              </a:rPr>
              <a:t>Top-tier cash + earnout tied to integration milestones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8EDCFF"/>
                </a:solidFill>
                <a:latin typeface="Helvetica Neue"/>
              </a:rPr>
              <a:t>•  </a:t>
            </a:r>
            <a:r>
              <a:rPr sz="1100">
                <a:solidFill>
                  <a:srgbClr val="AAB4D4"/>
                </a:solidFill>
                <a:latin typeface="Helvetica Neue"/>
              </a:rPr>
              <a:t>Outcome: Foundry's compact autonomous tenant template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571500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8EDCFF"/>
                </a:solidFill>
                <a:latin typeface="Helvetica Neue"/>
              </a:rPr>
              <a:t>If conviction lands on the operating system.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AAB4D4"/>
                </a:solidFill>
                <a:latin typeface="Helvetica Neue"/>
              </a:rPr>
              <a:t>Sapphire OS  ·  Pitch  ·  2026-04-29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AAB4D4"/>
                </a:solidFill>
                <a:latin typeface="Helvetica Neue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6ECFF"/>
                </a:solidFill>
                <a:latin typeface="Helvetica Neue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AAB4D4"/>
                </a:solidFill>
                <a:latin typeface="Helvetica Neue"/>
              </a:rPr>
              <a:t>One concrete next step.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417320"/>
            <a:ext cx="10332720" cy="402336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 w="17780">
            <a:solidFill>
              <a:srgbClr val="6DA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417320"/>
            <a:ext cx="10332720" cy="73152"/>
          </a:xfrm>
          <a:prstGeom prst="rect">
            <a:avLst/>
          </a:prstGeom>
          <a:solidFill>
            <a:srgbClr val="6DA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874520"/>
            <a:ext cx="9418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E6ECFF"/>
                </a:solidFill>
                <a:latin typeface="Helvetica Neue"/>
              </a:rPr>
              <a:t>30-minute Foundry integration POC scoping call.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697480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8EDCFF"/>
                </a:solidFill>
                <a:latin typeface="Helvetica Neue"/>
              </a:rPr>
              <a:t>with one Foundry corp-dev lead and one Foundry platform engineer.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20440"/>
            <a:ext cx="9418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6ECFF"/>
                </a:solidFill>
                <a:latin typeface="Helvetica Neue"/>
              </a:rPr>
              <a:t>Agenda (30 min):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977640"/>
            <a:ext cx="9418320" cy="1280160"/>
          </a:xfrm>
          <a:prstGeom prst="rect">
            <a:avLst/>
          </a:prstGeom>
          <a:noFill/>
        </p:spPr>
        <p:txBody>
          <a:bodyPr wrap="square" l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8EDCFF"/>
                </a:solidFill>
                <a:latin typeface="Helvetica Neue"/>
              </a:rPr>
              <a:t>•  </a:t>
            </a:r>
            <a:r>
              <a:rPr sz="1300">
                <a:solidFill>
                  <a:srgbClr val="AAB4D4"/>
                </a:solidFill>
                <a:latin typeface="Helvetica Neue"/>
              </a:rPr>
              <a:t>Walk one signal end-to-end through Risk Kernel + Provenance + Foundry sync (10 min).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8EDCFF"/>
                </a:solidFill>
                <a:latin typeface="Helvetica Neue"/>
              </a:rPr>
              <a:t>•  </a:t>
            </a:r>
            <a:r>
              <a:rPr sz="1300">
                <a:solidFill>
                  <a:srgbClr val="AAB4D4"/>
                </a:solidFill>
                <a:latin typeface="Helvetica Neue"/>
              </a:rPr>
              <a:t>Map IntelVectorRecord, ThreatIndicator, OODAPacket onto your existing Foundry ontology (10 min).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8EDCFF"/>
                </a:solidFill>
                <a:latin typeface="Helvetica Neue"/>
              </a:rPr>
              <a:t>•  </a:t>
            </a:r>
            <a:r>
              <a:rPr sz="1300">
                <a:solidFill>
                  <a:srgbClr val="AAB4D4"/>
                </a:solidFill>
                <a:latin typeface="Helvetica Neue"/>
              </a:rPr>
              <a:t>Decide a 30-day mutual-fit POC scope or close out cleanly (10 min).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715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EDCFF"/>
                </a:solidFill>
                <a:latin typeface="Menlo"/>
              </a:rPr>
              <a:t>Reply to: aristotlespec@gmail.com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080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AAB4D4"/>
                </a:solidFill>
                <a:latin typeface="Helvetica Neue"/>
              </a:rPr>
              <a:t>Diligence packet + acquirer microsite are linked in the appendix.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AAB4D4"/>
                </a:solidFill>
                <a:latin typeface="Helvetica Neue"/>
              </a:rPr>
              <a:t>Sapphire OS  ·  Pitch  ·  2026-04-29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AAB4D4"/>
                </a:solidFill>
                <a:latin typeface="Helvetica Neue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E6ECFF"/>
                </a:solidFill>
                <a:latin typeface="Helvetica Neue"/>
              </a:rPr>
              <a:t>Appendix · Diligence packet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AAB4D4"/>
                </a:solidFill>
                <a:latin typeface="Helvetica Neue"/>
              </a:rPr>
              <a:t>Ten markdown files in docs/diligence/. Read in order; ~30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48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EDCFF"/>
                </a:solidFill>
                <a:latin typeface="Menlo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554480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6ECFF"/>
                </a:solidFill>
                <a:latin typeface="Helvetica Neue"/>
              </a:rPr>
              <a:t>Executive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554480"/>
            <a:ext cx="26060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AB4D4"/>
                </a:solidFill>
                <a:latin typeface="Helvetica Neue"/>
              </a:rPr>
              <a:t>What Sapphire is, why it is buyable, where the controls live.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554480"/>
            <a:ext cx="548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EDCFF"/>
                </a:solidFill>
                <a:latin typeface="Menl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1554480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6ECFF"/>
                </a:solidFill>
                <a:latin typeface="Helvetica Neue"/>
              </a:rPr>
              <a:t>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8280" y="1554480"/>
            <a:ext cx="26060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AB4D4"/>
                </a:solidFill>
                <a:latin typeface="Helvetica Neue"/>
              </a:rPr>
              <a:t>Five planes: operator surfaces, runtimes, safety, artifacts, complement lanes.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039112"/>
            <a:ext cx="548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EDCFF"/>
                </a:solidFill>
                <a:latin typeface="Menl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039112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6ECFF"/>
                </a:solidFill>
                <a:latin typeface="Helvetica Neue"/>
              </a:rPr>
              <a:t>Product surfaces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039112"/>
            <a:ext cx="26060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AB4D4"/>
                </a:solidFill>
                <a:latin typeface="Helvetica Neue"/>
              </a:rPr>
              <a:t>Dashboard pages + APIs + plugin tools + Hermes skills.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039112"/>
            <a:ext cx="548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EDCFF"/>
                </a:solidFill>
                <a:latin typeface="Menlo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2039112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6ECFF"/>
                </a:solidFill>
                <a:latin typeface="Helvetica Neue"/>
              </a:rPr>
              <a:t>Security posture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2039112"/>
            <a:ext cx="26060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AB4D4"/>
                </a:solidFill>
                <a:latin typeface="Helvetica Neue"/>
              </a:rPr>
              <a:t>SOC-2-flavoured map. Open incident: pending operator credential rotation.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523744"/>
            <a:ext cx="548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EDCFF"/>
                </a:solidFill>
                <a:latin typeface="Menlo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523744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6ECFF"/>
                </a:solidFill>
                <a:latin typeface="Helvetica Neue"/>
              </a:rPr>
              <a:t>Data + models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2523744"/>
            <a:ext cx="26060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AB4D4"/>
                </a:solidFill>
                <a:latin typeface="Helvetica Neue"/>
              </a:rPr>
              <a:t>4+1 inference mesh. Local-first; bounded Gemini OODA; provenance everywhere.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523744"/>
            <a:ext cx="548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EDCFF"/>
                </a:solidFill>
                <a:latin typeface="Menlo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2523744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6ECFF"/>
                </a:solidFill>
                <a:latin typeface="Helvetica Neue"/>
              </a:rPr>
              <a:t>Operations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2523744"/>
            <a:ext cx="26060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AB4D4"/>
                </a:solidFill>
                <a:latin typeface="Helvetica Neue"/>
              </a:rPr>
              <a:t>LaunchAgents + readiness sweeps + routine soak gates.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008376"/>
            <a:ext cx="548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EDCFF"/>
                </a:solidFill>
                <a:latin typeface="Menlo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3008376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6ECFF"/>
                </a:solidFill>
                <a:latin typeface="Helvetica Neue"/>
              </a:rPr>
              <a:t>Financials + 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3008376"/>
            <a:ext cx="26060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AB4D4"/>
                </a:solidFill>
                <a:latin typeface="Helvetica Neue"/>
              </a:rPr>
              <a:t>No-spend by default. Cost controls are repo-enforced.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008376"/>
            <a:ext cx="548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EDCFF"/>
                </a:solidFill>
                <a:latin typeface="Menlo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3008376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6ECFF"/>
                </a:solidFill>
                <a:latin typeface="Helvetica Neue"/>
              </a:rPr>
              <a:t>Roadmap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3008376"/>
            <a:ext cx="26060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AB4D4"/>
                </a:solidFill>
                <a:latin typeface="Helvetica Neue"/>
              </a:rPr>
              <a:t>30 / 60 / 90 day plus 1-year — packaging, not invention.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493008"/>
            <a:ext cx="548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EDCFF"/>
                </a:solidFill>
                <a:latin typeface="Menlo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93008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6ECFF"/>
                </a:solidFill>
                <a:latin typeface="Helvetica Neue"/>
              </a:rPr>
              <a:t>Incidents + postmortems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83280" y="3493008"/>
            <a:ext cx="26060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AB4D4"/>
                </a:solidFill>
                <a:latin typeface="Helvetica Neue"/>
              </a:rPr>
              <a:t>Each incident becomes a code guard, test, runbook, or tracked decision.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3493008"/>
            <a:ext cx="548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EDCFF"/>
                </a:solidFill>
                <a:latin typeface="Menlo"/>
              </a:rPr>
              <a:t>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3493008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6ECFF"/>
                </a:solidFill>
                <a:latin typeface="Helvetica Neue"/>
              </a:rPr>
              <a:t>Team + process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3493008"/>
            <a:ext cx="26060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AB4D4"/>
                </a:solidFill>
                <a:latin typeface="Helvetica Neue"/>
              </a:rPr>
              <a:t>One operator. Codex + Claude/Hermes constrained by skill inventories.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120640"/>
            <a:ext cx="11064240" cy="118872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 w="12700">
            <a:solidFill>
              <a:srgbClr val="6DA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2120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EDCFF"/>
                </a:solidFill>
                <a:latin typeface="Helvetica Neue"/>
              </a:rPr>
              <a:t>Acquirer microsite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532120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AAB4D4"/>
                </a:solidFill>
                <a:latin typeface="Helvetica Neue"/>
              </a:rPr>
              <a:t>web/acquirer/index.html  ·  9 capability cards · 8 stack items · diligence index · safety posture · founder contact.</a:t>
            </a:r>
          </a:p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AAB4D4"/>
                </a:solidFill>
                <a:latin typeface="Helvetica Neue"/>
              </a:rPr>
              <a:t>Vanilla CSS, no analytics, no tracking, no external JS. Ready to host on any static surface.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AAB4D4"/>
                </a:solidFill>
                <a:latin typeface="Helvetica Neue"/>
              </a:rPr>
              <a:t>Sapphire OS  ·  Pitch  ·  2026-04-29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AAB4D4"/>
                </a:solidFill>
                <a:latin typeface="Helvetica Neue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E6ECFF"/>
                </a:solidFill>
                <a:latin typeface="Helvetica Neue"/>
              </a:rPr>
              <a:t>Appendix ·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AAB4D4"/>
                </a:solidFill>
                <a:latin typeface="Helvetica Neue"/>
              </a:rPr>
              <a:t>Every metric in this deck is repo-grounded. Every slide notes its source.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577840" cy="475488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 w="9525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577840" cy="54864"/>
          </a:xfrm>
          <a:prstGeom prst="rect">
            <a:avLst/>
          </a:prstGeom>
          <a:solidFill>
            <a:srgbClr val="6DA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E6ECFF"/>
                </a:solidFill>
                <a:latin typeface="Helvetica Neue"/>
              </a:rPr>
              <a:t>Build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4937760" cy="3749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050" b="0" i="0">
                <a:solidFill>
                  <a:srgbClr val="AAB4D4"/>
                </a:solidFill>
                <a:latin typeface="Menlo"/>
              </a:rPr>
              <a:t>Repo:          arigatoexpress/Sapphire</a:t>
            </a:r>
          </a:p>
          <a:p>
            <a:pPr algn="l">
              <a:lnSpc>
                <a:spcPct val="155000"/>
              </a:lnSpc>
            </a:pPr>
            <a:r>
              <a:rPr sz="1050" b="0" i="0">
                <a:solidFill>
                  <a:srgbClr val="AAB4D4"/>
                </a:solidFill>
                <a:latin typeface="Menlo"/>
              </a:rPr>
              <a:t>HEAD:          9074c408</a:t>
            </a:r>
          </a:p>
          <a:p>
            <a:pPr algn="l">
              <a:lnSpc>
                <a:spcPct val="155000"/>
              </a:lnSpc>
            </a:pPr>
            <a:r>
              <a:rPr sz="1050" b="0" i="0">
                <a:solidFill>
                  <a:srgbClr val="AAB4D4"/>
                </a:solidFill>
                <a:latin typeface="Menlo"/>
              </a:rPr>
              <a:t>Build date:    2026-04-29</a:t>
            </a:r>
          </a:p>
          <a:p>
            <a:pPr algn="l">
              <a:lnSpc>
                <a:spcPct val="155000"/>
              </a:lnSpc>
            </a:pPr>
            <a:r>
              <a:rPr sz="1050" b="0" i="0">
                <a:solidFill>
                  <a:srgbClr val="AAB4D4"/>
                </a:solidFill>
                <a:latin typeface="Menlo"/>
              </a:rPr>
              <a:t>Branch:        docs/sapphire-pitch-deck-2026-04-29</a:t>
            </a:r>
          </a:p>
          <a:p>
            <a:pPr algn="l">
              <a:lnSpc>
                <a:spcPct val="155000"/>
              </a:lnSpc>
            </a:pPr>
            <a:r>
              <a:rPr sz="1050" b="0" i="0">
                <a:solidFill>
                  <a:srgbClr val="AAB4D4"/>
                </a:solidFill>
                <a:latin typeface="Menlo"/>
              </a:rPr>
              <a:t>Builder:       /tmp/sapphire-deck-build/</a:t>
            </a:r>
          </a:p>
          <a:p>
            <a:pPr algn="l">
              <a:lnSpc>
                <a:spcPct val="155000"/>
              </a:lnSpc>
            </a:pPr>
            <a:r>
              <a:rPr sz="1050" b="0" i="0">
                <a:solidFill>
                  <a:srgbClr val="AAB4D4"/>
                </a:solidFill>
                <a:latin typeface="Menlo"/>
              </a:rPr>
              <a:t>PPTX library:  python-pptx</a:t>
            </a:r>
          </a:p>
          <a:p>
            <a:pPr algn="l">
              <a:lnSpc>
                <a:spcPct val="155000"/>
              </a:lnSpc>
            </a:pPr>
            <a:r>
              <a:rPr sz="1050" b="0" i="0">
                <a:solidFill>
                  <a:srgbClr val="AAB4D4"/>
                </a:solidFill>
                <a:latin typeface="Menlo"/>
              </a:rPr>
              <a:t>Diagram:       matplotlib (PIL backend)</a:t>
            </a:r>
          </a:p>
          <a:p>
            <a:pPr algn="l">
              <a:lnSpc>
                <a:spcPct val="155000"/>
              </a:lnSpc>
            </a:pPr>
            <a:r>
              <a:rPr sz="1050" b="0" i="0">
                <a:solidFill>
                  <a:srgbClr val="AAB4D4"/>
                </a:solidFill>
                <a:latin typeface="Menlo"/>
              </a:rPr>
              <a:t>Test snapshot: scripts/ops/test_inventory.py @ 2026-04-28</a:t>
            </a:r>
          </a:p>
          <a:p>
            <a:pPr algn="l">
              <a:lnSpc>
                <a:spcPct val="155000"/>
              </a:lnSpc>
            </a:pPr>
            <a:r>
              <a:rPr sz="1050" b="0" i="0">
                <a:solidFill>
                  <a:srgbClr val="AAB4D4"/>
                </a:solidFill>
                <a:latin typeface="Menlo"/>
              </a:rPr>
              <a:t>Audience:      Palantir Foundry corp-dev</a:t>
            </a:r>
          </a:p>
          <a:p>
            <a:pPr algn="l">
              <a:lnSpc>
                <a:spcPct val="155000"/>
              </a:lnSpc>
            </a:pPr>
            <a:r>
              <a:rPr sz="1050" b="0" i="0">
                <a:solidFill>
                  <a:srgbClr val="AAB4D4"/>
                </a:solidFill>
                <a:latin typeface="Menlo"/>
              </a:rPr>
              <a:t>Sidecar:       *.envelope.json (lib/core/provenance shape)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577840" cy="475488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 w="9525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463040"/>
            <a:ext cx="5577840" cy="54864"/>
          </a:xfrm>
          <a:prstGeom prst="rect">
            <a:avLst/>
          </a:prstGeom>
          <a:solidFill>
            <a:srgbClr val="8E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916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E6ECFF"/>
                </a:solidFill>
                <a:latin typeface="Helvetica Neue"/>
              </a:rPr>
              <a:t>Verify it yourself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331720"/>
            <a:ext cx="4937760" cy="3749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AAB4D4"/>
                </a:solidFill>
                <a:latin typeface="Menlo"/>
              </a:rPr>
              <a:t># Test count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AAB4D4"/>
                </a:solidFill>
                <a:latin typeface="Menlo"/>
              </a:rPr>
              <a:t>$ python3 scripts/ops/test_inventory.py --check-readme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AAB4D4"/>
                </a:solidFill>
                <a:latin typeface="Menlo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AAB4D4"/>
                </a:solidFill>
                <a:latin typeface="Menlo"/>
              </a:rPr>
              <a:t># Plugin tool count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AAB4D4"/>
                </a:solidFill>
                <a:latin typeface="Menlo"/>
              </a:rPr>
              <a:t>$ ls plugins/claw-sapphire/tools/*.py | wc -l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AAB4D4"/>
                </a:solidFill>
                <a:latin typeface="Menlo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AAB4D4"/>
                </a:solidFill>
                <a:latin typeface="Menlo"/>
              </a:rPr>
              <a:t># Dashboard pages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AAB4D4"/>
                </a:solidFill>
                <a:latin typeface="Menlo"/>
              </a:rPr>
              <a:t>$ ls services/dashboard/templates/pages/ | wc -l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AAB4D4"/>
                </a:solidFill>
                <a:latin typeface="Menlo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AAB4D4"/>
                </a:solidFill>
                <a:latin typeface="Menlo"/>
              </a:rPr>
              <a:t># Provenance verification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AAB4D4"/>
                </a:solidFill>
                <a:latin typeface="Menlo"/>
              </a:rPr>
              <a:t>$ python3 scripts/ops/provenance_verify.py --pretty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AAB4D4"/>
                </a:solidFill>
                <a:latin typeface="Menlo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AAB4D4"/>
                </a:solidFill>
                <a:latin typeface="Menlo"/>
              </a:rPr>
              <a:t># Production readiness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AAB4D4"/>
                </a:solidFill>
                <a:latin typeface="Menlo"/>
              </a:rPr>
              <a:t>$ python3 scripts/ops/production_readiness_sweep.py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AAB4D4"/>
                </a:solidFill>
                <a:latin typeface="Menlo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AAB4D4"/>
                </a:solidFill>
                <a:latin typeface="Menlo"/>
              </a:rPr>
              <a:t># Risk kernel red-team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AAB4D4"/>
                </a:solidFill>
                <a:latin typeface="Menlo"/>
              </a:rPr>
              <a:t>$ pytest tests/integration/test_risk_kernel_redteam.py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8EDCFF"/>
                </a:solidFill>
                <a:latin typeface="Helvetica Neue"/>
              </a:rPr>
              <a:t>This deck contains zero fabricated metrics. Every claim is reproducible from the repo at the SHA above.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